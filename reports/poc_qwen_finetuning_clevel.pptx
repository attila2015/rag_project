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0D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Document Intelligence
par Vision-Language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</a:rPr>
              <a:t>Fine-Tuning Qwen2.5-VL-3B sur Intel Arc XPU
Extraction automatique de données financières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8056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Mars 2026  ·  Equity Market Pipeline  ·  Direction Data &amp;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CONFIDENTIEL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🎯  Objectif : zéro saisie manuelle
🧠  Modèle : 3B paramètres multimodal
⚡  Hardware : Intel Arc (on-device)
📊  Cas d'usage : Charts OHLCV CAC40
🗂️  MLOps : MLflow Model Registry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20040" cy="9326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44"/>
                </a:solidFill>
              </a:rPr>
              <a:t>Résumé Exécutif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63"/>
                </a:solidFill>
              </a:rPr>
              <a:t>Ce que nous avons démontré en une journée de POC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CONFIDENTIEL — Usage interne  |  © 2026 Equity Market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POC — Document Intelligence · Qwen2.5-VL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21031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88720"/>
            <a:ext cx="210312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25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F766E"/>
                </a:solidFill>
              </a:rPr>
              <a:t>85,7%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874520"/>
            <a:ext cx="19568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Parse rate JSON
(test set)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188720"/>
            <a:ext cx="21031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40" y="1188720"/>
            <a:ext cx="210312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1325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369A1"/>
                </a:solidFill>
              </a:rPr>
              <a:t>3B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1874520"/>
            <a:ext cx="19568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Paramètres
modèle VLM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188720"/>
            <a:ext cx="21031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1188720"/>
            <a:ext cx="210312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325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F766E"/>
                </a:solidFill>
              </a:rPr>
              <a:t>~30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2" y="1874520"/>
            <a:ext cx="19568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Durée entraînement
sur Intel Arc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1188720"/>
            <a:ext cx="21031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86600" y="1188720"/>
            <a:ext cx="210312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1325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369A1"/>
                </a:solidFill>
              </a:rPr>
              <a:t>40+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1874520"/>
            <a:ext cx="19568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Expériences
MLflow trackées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1188720"/>
            <a:ext cx="24688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26880" y="118872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325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</a:rPr>
              <a:t>0 GPU
extérieur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1874520"/>
            <a:ext cx="2322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100% on-device
Intel Arc XPU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788920"/>
            <a:ext cx="539496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2788920"/>
            <a:ext cx="539496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834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</a:rPr>
              <a:t>✅  Ce qui a fonctionné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29184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 Pipeline complet de fine-tuning LoRA opérationnel sur hardware Intel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 Workflow MLOps guidé (Streamlit) : dataset → config → train → merge → test → registry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 Génération JSON structuré avec 85,7% de parse rate dès le premier run complet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 MLflow Model Registry : versioning et transition Staging/Production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 Conversion GGUF pour déploiement llama-server (f16 validé, q4_k_m en cours)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788920"/>
            <a:ext cx="57607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2788920"/>
            <a:ext cx="5760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834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</a:rPr>
              <a:t>⚠️  Points à adresser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29184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 Field F1 = 0.0 (extraction exacte non convergée sur ce run)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334A63"/>
                </a:solidFill>
              </a:rPr>
              <a:t>   → Dataset trop petit (15 exemples train) pour les valeurs numériques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 Merge du modèle : save_pretrained() nécessite patch spécifique transformers 5.x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 GPU monitoring WMI : timeouts sous charge intensive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 Recommandation : 100+ exemples + ajustement du prompt extraction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20040" cy="9326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44"/>
                </a:solidFill>
              </a:rPr>
              <a:t>Contexte &amp; Défi Métier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63"/>
                </a:solidFill>
              </a:rPr>
              <a:t>Pourquoi fine-tuner un VLM sur des données financières 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CONFIDENTIEL — Usage interne  |  © 2026 Equity Market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POC — Document Intelligence · Qwen2.5-VL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53035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</a:rPr>
              <a:t>🔴  Situation actuelle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Les analystes extraient manuellement les données OHLCV,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volumes et indicateurs depuis des captures d'écran de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plateformes (TradingView, Bloomberg, Reuters)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0A1F44"/>
                </a:solidFill>
              </a:rPr>
              <a:t>Problèmes clés :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  • Volume : centaines de charts par jour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  • Erreurs : fatigue + variabilité visuelle des charts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  • Délai : extraction T+2h vs besoin temps réel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  • Coût : ressources analytiques mobilisées sur tâches répétitives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  • Vendor lock-in : APIs financières tierces coûteuses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88720"/>
            <a:ext cx="585216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2801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766E"/>
                </a:solidFill>
              </a:rPr>
              <a:t>🟢  Notre approche VLM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78308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Un modèle Vision-Language (VLM) fine-tuné comprend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directement l'image du chart et génère un JSON structuré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0A1F44"/>
                </a:solidFill>
              </a:rPr>
              <a:t>Avantages :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  • Temps réel : extraction en &lt;2s par image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  • Précision : adapté au format visuel interne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  • On-device : aucune donnée envoyée à l'extérieur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  • Extensible : nouveaux types de docs sans recodage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>  • Open source : Qwen2.5-VL Apache 2.0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0A1F44"/>
                </a:solidFill>
              </a:rPr>
              <a:t>Output structuré 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754880"/>
            <a:ext cx="548640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8006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{ "symbol": "TVC:CAC40",
  "chart_date": "2025-05-16",
  "open": "7874.93", "close": "7886.69",
  "volume": "67204200"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20040" cy="9326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44"/>
                </a:solidFill>
              </a:rPr>
              <a:t>Architecture Technique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63"/>
                </a:solidFill>
              </a:rPr>
              <a:t>Stack complet — inférence et fine-tuning on-device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CONFIDENTIEL — Usage interne  |  © 2026 Equity Market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POC — Document Intelligence · Qwen2.5-VL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11430000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7043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PIPELINE D'INFÉRENCE (Production)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1828800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0020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📄 Image
Chart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1792224"/>
            <a:ext cx="32004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14600" y="1783080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554480"/>
            <a:ext cx="2011680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160020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🔍 Classify
(doc type)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792224"/>
            <a:ext cx="32004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0" y="1783080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1554480"/>
            <a:ext cx="2011680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60020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📤 Extract
(fields JSON)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1792224"/>
            <a:ext cx="32004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43800" y="1783080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26679" y="1554480"/>
            <a:ext cx="182880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9" y="160020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✅ JSON
Structuré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792224"/>
            <a:ext cx="32004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0" y="1783080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58400" y="1554480"/>
            <a:ext cx="1737360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16002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🗄️ DB /
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331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4A63"/>
                </a:solidFill>
              </a:rPr>
              <a:t>llama-server (GGUF Q4_K_M)  ·  Qwen2.5-VL-3B-Instruct fine-tuné  ·  ChatML format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788920"/>
            <a:ext cx="11430000" cy="320040"/>
          </a:xfrm>
          <a:prstGeom prst="rect">
            <a:avLst/>
          </a:prstGeom>
          <a:solidFill>
            <a:srgbClr val="14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8163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PIPELINE DE FINE-TUNING (LoRA — Intel Arc XPU)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200400"/>
            <a:ext cx="1600200" cy="868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2461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📂 Dataset
60 charts
CAC40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93392" y="3557016"/>
            <a:ext cx="13716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084832" y="3547872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03120" y="3200400"/>
            <a:ext cx="1600200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48840" y="32461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⚙️ Config
LoRA r=4
α=8, lr=2e-4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30752" y="3557016"/>
            <a:ext cx="13716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822192" y="3547872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40480" y="3200400"/>
            <a:ext cx="1600200" cy="868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86200" y="32461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🚀 Training
SFTTrainer
24 steps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3557016"/>
            <a:ext cx="13716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559552" y="3547872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77840" y="3200400"/>
            <a:ext cx="1600200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23560" y="32461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💾 Adapter
LoRA weights
~5 MB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05472" y="3557016"/>
            <a:ext cx="13716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296912" y="3547872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00" y="3200400"/>
            <a:ext cx="1600200" cy="868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60920" y="32461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🔀 Merge
FP16 standalone
~6 GB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42832" y="3557016"/>
            <a:ext cx="13716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034272" y="3547872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52560" y="3200400"/>
            <a:ext cx="1600200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98280" y="32461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📦 GGUF
Q4_K_M
~1.9 GB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80192" y="3557016"/>
            <a:ext cx="13716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771632" y="3547872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515600" y="3200400"/>
            <a:ext cx="1600200" cy="868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61320" y="32461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🗂️ Registry
MLflow
v1/Staging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251960"/>
            <a:ext cx="11430000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4279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STACK LOGICIEL &amp; MATÉRIEL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4663440"/>
            <a:ext cx="1417320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4709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🐍 Python 3.12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47088" y="4663440"/>
            <a:ext cx="1417320" cy="5486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92808" y="4709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🤗 Transformers 5.x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28416" y="4663440"/>
            <a:ext cx="1417320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74136" y="4709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PEFT 0.18 / TRL 0.29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09744" y="4663440"/>
            <a:ext cx="1417320" cy="5486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55464" y="4709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⚡ IPEX 2.8.10 (XPU)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91072" y="4663440"/>
            <a:ext cx="1417320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36792" y="4709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📊 MLflow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0" y="4663440"/>
            <a:ext cx="1417320" cy="5486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18120" y="4709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🖥️ Streamlit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53728" y="4663440"/>
            <a:ext cx="1417320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99448" y="4709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🦙 llama.cpp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735056" y="4663440"/>
            <a:ext cx="1417320" cy="5486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780776" y="4709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🔵 Intel Arc GPU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532180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</a:rPr>
              <a:t>Intel Core Ultra 5 125H  ·  Intel Arc (iGPU)  ·  ~40 GB RAM  ·  Windows 11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5669280"/>
            <a:ext cx="11430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766E"/>
                </a:solidFill>
              </a:rPr>
              <a:t>💡  Différenciateur clé : fine-tuning complet sur GPU intégré Intel Arc (XPU + IPEX) — aucune dépendance cloud, aucun GPU NVIDIA requis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20040" cy="9326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44"/>
                </a:solidFill>
              </a:rPr>
              <a:t>Méthode : LoRA Fine-Tuning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63"/>
                </a:solidFill>
              </a:rPr>
              <a:t>Adapter un LLM 3B avec &lt;0,1% des paramètres entraînés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CONFIDENTIEL — Usage interne  |  © 2026 Equity Market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POC — Document Intelligence · Qwen2.5-VL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3035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F44"/>
                </a:solidFill>
              </a:rPr>
              <a:t>Qu'est-ce que LoRA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1">
                <a:solidFill>
                  <a:srgbClr val="0F766E"/>
                </a:solidFill>
              </a:rPr>
              <a:t>Low-Rank Adaptation (Hu et al., 2021)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Au lieu de modifier les 3 milliards de paramètres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du modèle, LoRA injecte de petites matrices ΔW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de rang faible dans les couches d'attention 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A1F44"/>
                </a:solidFill>
              </a:rPr>
              <a:t>   W' = W₀ + ΔW = W₀ + BA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où B ∈ ℝᵈˣʳ et A ∈ ℝʳˣᵏ, avec r = 4 ≪ d,k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A1F44"/>
                </a:solidFill>
              </a:rPr>
              <a:t>Configuration utilisée 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• Rang r = 4  (vs. 2048 hidden dim)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• Alpha α = 8  →  scaling = α/r = 2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• Modules cibles : q_proj, v_proj (attention)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• Dropout : 0.05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• Paramètres entraînés : ~0,08% du total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• Adapter final : ~5 MB  (vs. 6 GB modèle base)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143000"/>
            <a:ext cx="5943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2344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Schéma LoRA — couche d'attention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828800"/>
            <a:ext cx="2560320" cy="2926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4A63"/>
                </a:solidFill>
              </a:rPr>
              <a:t>W₀
(gelé — 3B params)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❄️ FROZEN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828800"/>
            <a:ext cx="1280160" cy="1280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92024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
(rank 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3291840"/>
            <a:ext cx="1280160" cy="12801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38328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
(rank 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5029200"/>
            <a:ext cx="2560320" cy="502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Input 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834640"/>
            <a:ext cx="192024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880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ΔW = BA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4114800"/>
            <a:ext cx="19202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</a:rPr>
              <a:t>W₀x + BAx
=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A1F44"/>
                </a:solidFill>
              </a:rPr>
              <a:t>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5806440"/>
            <a:ext cx="5760720" cy="36576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583387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766E"/>
                </a:solidFill>
              </a:rPr>
              <a:t>✅  Seules les matrices A et B sont entraînées — W₀ reste figé et non modifié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20040" cy="9326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44"/>
                </a:solidFill>
              </a:rPr>
              <a:t>Dataset &amp; Données d'Entraînement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63"/>
                </a:solidFill>
              </a:rPr>
              <a:t>60 charts CAC40 annotés — double-tâche par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CONFIDENTIEL — Usage interne  |  © 2026 Equity Market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POC — Document Intelligence · Qwen2.5-VL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18288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88720"/>
            <a:ext cx="18288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2588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766E"/>
                </a:solidFill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874520"/>
            <a:ext cx="1682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Charts
annotés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188720"/>
            <a:ext cx="18288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1188720"/>
            <a:ext cx="182880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132588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369A1"/>
                </a:solidFill>
              </a:rPr>
              <a:t>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4872" y="1874520"/>
            <a:ext cx="1682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Items
(2 tâches/image)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188720"/>
            <a:ext cx="18288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188720"/>
            <a:ext cx="18288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32588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766E"/>
                </a:solidFill>
              </a:rPr>
              <a:t>15 / 7 /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1874520"/>
            <a:ext cx="1682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Train / Val / Test
(50/25/25%)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188720"/>
            <a:ext cx="18288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188720"/>
            <a:ext cx="182880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32588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369A1"/>
                </a:solidFill>
              </a:rPr>
              <a:t>9 champs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1874520"/>
            <a:ext cx="1682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Par image
(OHLCV + meta)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188720"/>
            <a:ext cx="18288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188720"/>
            <a:ext cx="18288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32588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766E"/>
                </a:solidFill>
              </a:rPr>
              <a:t>1D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1874520"/>
            <a:ext cx="1682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Timeframe
CAC40 daily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1188720"/>
            <a:ext cx="1645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49840" y="1188720"/>
            <a:ext cx="164592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0" y="132588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369A1"/>
                </a:solidFill>
              </a:rPr>
              <a:t>12 mois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22992" y="187452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Période
2025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560320"/>
            <a:ext cx="5577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651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Structure d'un exemple d'entraînement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108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</a:rPr>
              <a:t>Tâche 1 — Classification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474720"/>
            <a:ext cx="521208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502152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DE80"/>
                </a:solidFill>
              </a:rPr>
              <a:t>[system] Analyse ce document financier...
[user] &lt;image&gt; Quel est le type de document ?
[assistant] {"document_type": "chart", "confidence": 0.97}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69A1"/>
                </a:solidFill>
              </a:rPr>
              <a:t>Tâche 2 — Extraction OHLCV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754880"/>
            <a:ext cx="521208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782312"/>
            <a:ext cx="5029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DE80"/>
                </a:solidFill>
              </a:rPr>
              <a:t>[system] Extrais les données structurées...
[user] &lt;image&gt; Extrais les données du chart
[assistant] {
  "symbol": "TVC:CAC40",
  "chart_date": "2025-05-16",
  "open": "7874.93", "high": "7915.43",
  "low": "7855.72", "close": "7886.69"
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560320"/>
            <a:ext cx="562356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2560320"/>
            <a:ext cx="56235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651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💡  Stratégie : Double-tâche par image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063240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1">
                <a:solidFill>
                  <a:srgbClr val="0A1F44"/>
                </a:solidFill>
              </a:rPr>
              <a:t>Chaque image génère 2 exemples d'entraînement 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766E"/>
                </a:solidFill>
              </a:rPr>
              <a:t>  📋  Tâche Classification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     → Apprend la structure du document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     → Format de réponse JSON court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369A1"/>
                </a:solidFill>
              </a:rPr>
              <a:t>  📊  Tâche Extraction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     → Apprend les champs métier (OHLCV)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     → JSON complet avec valeurs numériques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A1F44"/>
                </a:solidFill>
              </a:rPr>
              <a:t>Résultat : 60 images → 120 paires (Q,A)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Avantage : cohérence train ↔ inférence (même format)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EA580C"/>
                </a:solidFill>
              </a:rPr>
              <a:t>⚠️  Limite actuelle : 15 exemples extraction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→ Insuffisant pour convergence sur valeurs exactes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→ Cible : 100+ exemples pour F1 &gt; 0.5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20040" cy="9326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44"/>
                </a:solidFill>
              </a:rPr>
              <a:t>Workflow MLOps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63"/>
                </a:solidFill>
              </a:rPr>
              <a:t>Pipeline de bout-en-bout avec traçabilité complète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CONFIDENTIEL — Usage interne  |  © 2026 Equity Market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POC — Document Intelligence · Qwen2.5-VL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1325880" cy="6400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2344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
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A63"/>
                </a:solidFill>
              </a:rPr>
              <a:t>60 charts
CAC40
annotés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7632" y="1453896"/>
            <a:ext cx="9144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73352" y="1444752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73936" y="1188720"/>
            <a:ext cx="1325880" cy="6400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19656" y="12344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
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" y="19202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A63"/>
                </a:solidFill>
              </a:rPr>
              <a:t>LoRA r=4
α=8
lr=2e-4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7248" y="1453896"/>
            <a:ext cx="9144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72968" y="1444752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3552" y="1188720"/>
            <a:ext cx="132588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12344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
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3552" y="19202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A63"/>
                </a:solidFill>
              </a:rPr>
              <a:t>SFTTrainer
XPU
24 steps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26864" y="1453896"/>
            <a:ext cx="9144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72584" y="1444752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73168" y="1188720"/>
            <a:ext cx="132588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12344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
Merge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19202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A63"/>
                </a:solidFill>
              </a:rPr>
              <a:t>FP16
standalone
~6 GB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453896"/>
            <a:ext cx="9144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72200" y="1444752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2784" y="1188720"/>
            <a:ext cx="1325880" cy="6400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12344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
Test/Val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19202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A63"/>
                </a:solidFill>
              </a:rPr>
              <a:t>F1 score
parse rate
exemples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26096" y="1453896"/>
            <a:ext cx="9144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71816" y="1444752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0" y="1188720"/>
            <a:ext cx="1325880" cy="6400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8120" y="12344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
Registry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19202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A63"/>
                </a:solidFill>
              </a:rPr>
              <a:t>MLflow
Staging →
Prod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25712" y="1453896"/>
            <a:ext cx="9144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71432" y="1444752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72016" y="1188720"/>
            <a:ext cx="132588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17736" y="12344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
GGUF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2016" y="19202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A63"/>
                </a:solidFill>
              </a:rPr>
              <a:t>Q4_K_M
llama-server
~1.9 GB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25328" y="1453896"/>
            <a:ext cx="91440" cy="182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671048" y="1444752"/>
            <a:ext cx="18288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71632" y="1188720"/>
            <a:ext cx="13258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17352" y="12344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
Serving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71632" y="19202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A63"/>
                </a:solidFill>
              </a:rPr>
              <a:t>REST API
Dashboard
Equity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880360"/>
            <a:ext cx="11521440" cy="320040"/>
          </a:xfrm>
          <a:prstGeom prst="rect">
            <a:avLst/>
          </a:prstGeom>
          <a:solidFill>
            <a:srgbClr val="14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29077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Interface Streamlit guidée — 7 étapes avec monitoring temps réel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291840"/>
            <a:ext cx="365760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4320" y="3291840"/>
            <a:ext cx="36576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33375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</a:rPr>
              <a:t>📊 MLflow Tracking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3749039"/>
            <a:ext cx="3429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Step-by-step : loss, lr, eta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Per-epoch : val_loss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Final : test_f1, parse_rate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Artifacts : checkpoints,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config, logs JSONL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766E"/>
                </a:solidFill>
              </a:rPr>
              <a:t>• 40+ runs trackés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3291840"/>
            <a:ext cx="384048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0" y="3291840"/>
            <a:ext cx="384048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51960" y="333756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69A1"/>
                </a:solidFill>
              </a:rPr>
              <a:t>🗂️ Model Registry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1960" y="3749039"/>
            <a:ext cx="3611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Versioning auto-incrémenté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(v1, v2, v3...)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Stages : None → Staging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→ Production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Tags métier : F1, n_train,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lora_r, base_model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369A1"/>
                </a:solidFill>
              </a:rPr>
              <a:t>• Source : local merged/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3291840"/>
            <a:ext cx="365760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60" y="3291840"/>
            <a:ext cx="3657600" cy="54864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20" y="33375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🦙 Serving llama.cpp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3749039"/>
            <a:ext cx="3429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Format : GGUF Q4_K_M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(~1.9 GB, 4-bit quantifié)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Serveur : llama-server REST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Endpoint : POST /completion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Vision : mmproj encoder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A1F44"/>
                </a:solidFill>
              </a:rPr>
              <a:t>• Latence : ~1-2s / image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6080760"/>
            <a:ext cx="1152144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610819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766E"/>
                </a:solidFill>
              </a:rPr>
              <a:t>🔑  En production : serving pointe sur models:/qwen_vl_finetuned/Production  →  pull depuis Registry  →  conversion GGUF  →  redémarrage llama-server automatique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20040" cy="9326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44"/>
                </a:solidFill>
              </a:rPr>
              <a:t>Résultats &amp; Métriques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63"/>
                </a:solidFill>
              </a:rPr>
              <a:t>Run ft_20260313_0823 — 3 epochs · 24 steps · Intel Arc XPU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CONFIDENTIEL — Usage interne  |  © 2026 Equity Market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POC — Document Intelligence · Qwen2.5-VL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2103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88720"/>
            <a:ext cx="21031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25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6A34A"/>
                </a:solidFill>
              </a:rPr>
              <a:t>85,7%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874520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Parse rate
(test set 7 ex.)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188720"/>
            <a:ext cx="2103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40" y="1188720"/>
            <a:ext cx="210312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1325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F766E"/>
                </a:solidFill>
              </a:rPr>
              <a:t>71,4%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1874520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Parse rate
(val set 7 ex.)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188720"/>
            <a:ext cx="2103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1188720"/>
            <a:ext cx="21031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325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A580C"/>
                </a:solidFill>
              </a:rPr>
              <a:t>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2" y="1874520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Field F1
(exact match)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1188720"/>
            <a:ext cx="2103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86600" y="1188720"/>
            <a:ext cx="21031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1325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6A34A"/>
                </a:solidFill>
              </a:rPr>
              <a:t>24/24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1874520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Steps complétés
(3 epochs)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1188720"/>
            <a:ext cx="24688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26880" y="1188720"/>
            <a:ext cx="246888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325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369A1"/>
                </a:solidFill>
              </a:rPr>
              <a:t>~30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1874520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4A63"/>
                </a:solidFill>
              </a:rPr>
              <a:t>Durée totale
entraînement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651760"/>
            <a:ext cx="5303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Interprétation des résultats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154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1">
                <a:solidFill>
                  <a:srgbClr val="16A34A"/>
                </a:solidFill>
              </a:rPr>
              <a:t>Parse rate 85,7% ✅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Le modèle génère du JSON valide sur 6/7 samples.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→ Il a appris la structure de réponse attendue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EA580C"/>
                </a:solidFill>
              </a:rPr>
              <a:t>Field F1 = 0.0 ⚠️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Les valeurs numériques (open, high, close...) ne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correspondent pas à celles attendues.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→ Root cause : dataset trop petit (15 ex. train)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→ Le modèle 'hallucine' des valeurs plausibles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  mais non spécifiques à chaque image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A1F44"/>
                </a:solidFill>
              </a:rPr>
              <a:t>Exemple de prédiction 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expected  "close": "7886.69"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DC2626"/>
                </a:solidFill>
              </a:rPr>
              <a:t>  predicted "close": "7,984.45"  ← valeur fixe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2651760"/>
            <a:ext cx="585216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2651760"/>
            <a:ext cx="585216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27432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</a:rPr>
              <a:t>Plan d'amélioration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15468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1">
                <a:solidFill>
                  <a:srgbClr val="0A1F44"/>
                </a:solidFill>
              </a:rPr>
              <a:t>1.  Augmenter le dataset  (priorité #1)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  → Cible : 200+ images (vs. 60 actuellement)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  → Script de capture automatique disponible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A1F44"/>
                </a:solidFill>
              </a:rPr>
              <a:t>2.  Affiner le prompt d'extraction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  → Inclure des hints visuels (axe des prix)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  → Chain-of-thought avant JSON output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A1F44"/>
                </a:solidFill>
              </a:rPr>
              <a:t>3.  Augmenter LoRA rank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  → Passer r=4 → r=8 ou r=16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  → Coût mémoire +2× mais meilleure capacité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A1F44"/>
                </a:solidFill>
              </a:rPr>
              <a:t>4.  3 epochs → 5–8 epochs + early stopping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A1F44"/>
                </a:solidFill>
              </a:rPr>
              <a:t>5.  Diversifier les sources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  → Bloomberg, Reuters, autres indices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126480"/>
            <a:ext cx="1143000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15391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7"/>
                </a:solidFill>
              </a:rPr>
              <a:t>📌  Le parse rate élevé (85,7%) valide l'architecture et le workflow. L'enjeu est un problème de volume de données, non d'architecture — résolvable rapidement.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20040" cy="9326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44"/>
                </a:solidFill>
              </a:rPr>
              <a:t>Infrastructure &amp; Sécurité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63"/>
                </a:solidFill>
              </a:rPr>
              <a:t>Déploiement on-device — souveraineté des données garantie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CONFIDENTIEL — Usage interne  |  © 2026 Equity Market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POC — Document Intelligence · Qwen2.5-VL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36576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⚡ Hardware POC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1">
                <a:solidFill>
                  <a:srgbClr val="0F766E"/>
                </a:solidFill>
              </a:rPr>
              <a:t>Intel Core Ultra 5 125H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Intel Arc (iGPU) — 8 EU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IPEX 2.8.10 backend XPU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~40 GB RAM unifiée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Windows 11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A1F44"/>
                </a:solidFill>
              </a:rPr>
              <a:t>Stockage 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Base model : 7,1 GB (2 shards)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Adapter LoRA : ~5 MB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Merged FP16 : ~6 GB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GGUF Q4_K_M : ~1,9 GB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MLflow artifacts : logs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A1F44"/>
                </a:solidFill>
              </a:rPr>
              <a:t>Performance 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~80s / step (XPU)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Inférence : ~1-2s / image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GGUF : ~0.5s / image (int4)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188720"/>
            <a:ext cx="36576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🔒 Sécurité &amp; Souveraineté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916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1">
                <a:solidFill>
                  <a:srgbClr val="16A34A"/>
                </a:solidFill>
              </a:rPr>
              <a:t>100% on-device ✅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Aucune donnée financière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transmise à l'extérieur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6A34A"/>
                </a:solidFill>
              </a:rPr>
              <a:t>Modèle open source ✅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Qwen2.5-VL — Apache 2.0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Audit du code source possible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6A34A"/>
                </a:solidFill>
              </a:rPr>
              <a:t>MLflow local ✅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Tracking sur filesystem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Pas de dépendance cloud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A1F44"/>
                </a:solidFill>
              </a:rPr>
              <a:t>Isolation 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Pas d'appel API externe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Pas de télémétrie modèle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Déployable air-gap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A1F44"/>
                </a:solidFill>
              </a:rPr>
              <a:t>Conformité RGPD 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Données restent sur site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Pas de rétention externe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36576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6576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</a:rPr>
              <a:t>🚀 Path to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6916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1">
                <a:solidFill>
                  <a:srgbClr val="0F766E"/>
                </a:solidFill>
              </a:rPr>
              <a:t>Option A — On-premise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Server dédié GPU (A100/H100)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vLLM ou TGI pour serving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MLflow server centralisé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Load balancing multi-GPU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369A1"/>
                </a:solidFill>
              </a:rPr>
              <a:t>Option B — Hybride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Training : cloud GPU spot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Inférence : on-premise CPU/GPU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Registry : MLflow mutualisé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A1F44"/>
                </a:solidFill>
              </a:rPr>
              <a:t>Option C — Edge (actuel)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Intel Arc / Apple Silicon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GGUF Q4_K_M local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• Adapté aux postes analyste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766E"/>
                </a:solidFill>
              </a:rPr>
              <a:t>Recommandation 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Option A pour prod scale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34A63"/>
                </a:solidFill>
              </a:rPr>
              <a:t>  Option C pour pilot analyst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320040" cy="9326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44"/>
                </a:solidFill>
              </a:rPr>
              <a:t>Prochaines Étapes &amp;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63"/>
                </a:solidFill>
              </a:rPr>
              <a:t>De la preuve de concept à la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CONFIDENTIEL — Usage interne  |  © 2026 Equity Market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POC — Document Intelligence · Qwen2.5-VL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370332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88720"/>
            <a:ext cx="370332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2344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</a:rPr>
              <a:t>📅  Court terme
(1–2 semaines)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20240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Augmenter dataset → 200+ charts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Diversifier : autres indices, timeframes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Relancer fine-tuning : viser F1 &gt; 0,5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Valider conversion GGUF Q4_K_M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Déployer dans Model Registry v2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188720"/>
            <a:ext cx="370332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188720"/>
            <a:ext cx="370332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2344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69A1"/>
                </a:solidFill>
              </a:rPr>
              <a:t>📅  Moyen terme
(1 mois)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920240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Extension à d'autres types de docs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  (rapports annuels, tableaux de bord)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CI/CD MLOps : retraining auto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Intégration pipeline equity principal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Benchmark vs. GPT-4o Vision (coût/perf)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GPU serveur dédié pour 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70332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188720"/>
            <a:ext cx="3703320" cy="54864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2344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📅  Long terme
(3–6 mois)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920240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Modèle 7B si précision insuffisante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Multi-langue (EN/FR/DE)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Active learning : annotation en boucle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API REST documentée pour équipes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SLA : 99,9% disponibilité serving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4A63"/>
                </a:solidFill>
              </a:rPr>
              <a:t>• Monitoring drift et retraining auto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19963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🎯  Objectifs  |  F1 &gt; 0,7 à 1 mois  ·  &lt;1s latence  ·  100 docs/jour automatisés  ·  ROI : -80% temps extraction analyste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0D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132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Le POC valide la faisabilité
technique et métier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</a:rPr>
              <a:t>✅  Pipeline de fine-tuning LoRA complet et reproductible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</a:rPr>
              <a:t>✅  Workflow MLOps guidé (Streamlit + MLflow + Registry)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</a:rPr>
              <a:t>✅  85,7% parse rate dès le 1er run complet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</a:rPr>
              <a:t>✅  100% on-device — souveraineté des données garantie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F59E0B"/>
                </a:solidFill>
              </a:rPr>
              <a:t>⚠️  F1 = 0.0 → résolvable avec +200 exemples d'entraînement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334A6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94A3B8"/>
                </a:solidFill>
              </a:rPr>
              <a:t>Prochaine décision 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</a:rPr>
              <a:t>→ Valider le budget annotation (200 charts) et lancer le run de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8288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🎯  Objectif à 1 mois : F1 &gt; 0,7
sur extraction OHLCV temps réel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29184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0">
                <a:solidFill>
                  <a:srgbClr val="CBD5E1"/>
                </a:solidFill>
              </a:rPr>
              <a:t>🧠  Qwen2.5-VL-3B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CBD5E1"/>
                </a:solidFill>
              </a:rPr>
              <a:t>⚡  Intel Arc XPU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CBD5E1"/>
                </a:solidFill>
              </a:rPr>
              <a:t>🔧  LoRA r=4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CBD5E1"/>
                </a:solidFill>
              </a:rPr>
              <a:t>📊  MLflow Registry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CBD5E1"/>
                </a:solidFill>
              </a:rPr>
              <a:t>🦙  llama.cpp GGUF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CBD5E1"/>
                </a:solidFill>
              </a:rPr>
              <a:t>🖥️  Streamlit 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217920"/>
            <a:ext cx="11548872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24535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CONFIDENTIEL — Direction Data &amp; IA  ·  Equity Market Pipeline  ·  Mars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